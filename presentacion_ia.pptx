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saveSubsetFonts="1">
  <p:sldMasterIdLst>
    <p:sldMasterId id="2147483659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<Relationships xmlns="http://schemas.openxmlformats.org/package/2006/relationships"><Relationship Id="rId16" Target="slides/slide10.xml" Type="http://schemas.openxmlformats.org/officeDocument/2006/relationships/slide"/><Relationship Id="rId15" Target="slides/slide9.xml" Type="http://schemas.openxmlformats.org/officeDocument/2006/relationships/slide"/><Relationship Id="rId14" Target="slides/slide8.xml" Type="http://schemas.openxmlformats.org/officeDocument/2006/relationships/slide"/><Relationship Id="rId13" Target="slides/slide7.xml" Type="http://schemas.openxmlformats.org/officeDocument/2006/relationships/slide"/><Relationship Id="rId12" Target="slides/slide6.xml" Type="http://schemas.openxmlformats.org/officeDocument/2006/relationships/slide"/><Relationship Id="rId11" Target="slides/slide5.xml" Type="http://schemas.openxmlformats.org/officeDocument/2006/relationships/slide"/><Relationship Id="rId10" Target="slides/slide4.xml" Type="http://schemas.openxmlformats.org/officeDocument/2006/relationships/slide"/><Relationship Id="rId9" Target="slides/slide3.xml" Type="http://schemas.openxmlformats.org/officeDocument/2006/relationships/slide"/><Relationship Id="rId8" Target="slides/slide2.xml" Type="http://schemas.openxmlformats.org/officeDocument/2006/relationships/slide"/><Relationship Id="rId7" Target="slides/slide1.xml" Type="http://schemas.openxmlformats.org/officeDocument/2006/relationships/slide"/><Relationship Id="rId6" Target="slideMasters/slideMaster1.xml" Type="http://schemas.openxmlformats.org/officeDocument/2006/relationships/slideMaster"/><Relationship Id="rId5" Target="printerSettings/printerSettings1.bin" Type="http://schemas.openxmlformats.org/officeDocument/2006/relationships/printerSettings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1.xml" Type="http://schemas.openxmlformats.org/officeDocument/2006/relationships/theme"/></Relationship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Inteligencia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 algn="ctr">
              <a:defRPr sz="2800">
                <a:solidFill>
                  <a:srgbClr val="E9ECEF"/>
                </a:solidFill>
              </a:defRPr>
            </a:pPr>
            <a:r>
              <a:t>Conceptos, aplicaciones y desafíos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defRPr b="1" sz="4400">
                <a:solidFill>
                  <a:srgbClr val="667EEA"/>
                </a:solidFill>
              </a:defRPr>
            </a:pPr>
            <a:r>
              <a:t>📋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spcBef>
                <a:spcPts val="1000"/>
              </a:spcBef>
              <a:defRPr sz="2400">
                <a:solidFill>
                  <a:srgbClr val="333333"/>
                </a:solidFill>
              </a:defRPr>
            </a:pPr>
            <a:r>
              <a:t>¿Qué es la IA?</a:t>
            </a:r>
          </a:p>
          <a:p>
            <a:pPr>
              <a:spcBef>
                <a:spcPts val="1000"/>
              </a:spcBef>
              <a:defRPr sz="2400">
                <a:solidFill>
                  <a:srgbClr val="333333"/>
                </a:solidFill>
              </a:defRPr>
            </a:pPr>
            <a:r>
              <a:t>Breve historia</a:t>
            </a:r>
          </a:p>
          <a:p>
            <a:pPr>
              <a:spcBef>
                <a:spcPts val="1000"/>
              </a:spcBef>
              <a:defRPr sz="2400">
                <a:solidFill>
                  <a:srgbClr val="333333"/>
                </a:solidFill>
              </a:defRPr>
            </a:pPr>
            <a:r>
              <a:t>Tipos y técnicas principales</a:t>
            </a:r>
          </a:p>
          <a:p>
            <a:pPr>
              <a:spcBef>
                <a:spcPts val="1000"/>
              </a:spcBef>
              <a:defRPr sz="2400">
                <a:solidFill>
                  <a:srgbClr val="333333"/>
                </a:solidFill>
              </a:defRPr>
            </a:pPr>
            <a:r>
              <a:t>Aplicaciones actuales</a:t>
            </a:r>
          </a:p>
          <a:p>
            <a:pPr>
              <a:spcBef>
                <a:spcPts val="1000"/>
              </a:spcBef>
              <a:defRPr sz="2400">
                <a:solidFill>
                  <a:srgbClr val="333333"/>
                </a:solidFill>
              </a:defRPr>
            </a:pPr>
            <a:r>
              <a:t>Beneficios y riesgos</a:t>
            </a:r>
          </a:p>
          <a:p>
            <a:pPr>
              <a:spcBef>
                <a:spcPts val="1000"/>
              </a:spcBef>
              <a:defRPr sz="2400">
                <a:solidFill>
                  <a:srgbClr val="333333"/>
                </a:solidFill>
              </a:defRPr>
            </a:pPr>
            <a:r>
              <a:t>Recomendaciones y recursos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defRPr b="1" sz="4400">
                <a:solidFill>
                  <a:srgbClr val="667EEA"/>
                </a:solidFill>
              </a:defRPr>
            </a:pPr>
            <a:r>
              <a:t>❓ ¿Qué es la 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Sistemas que realizan tareas que requieren inteligencia humana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IA vs Machine Learning vs Deep Learning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Ejemplo: reconocimiento de voz vs reglas programadas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defRPr b="1" sz="4400">
                <a:solidFill>
                  <a:srgbClr val="667EEA"/>
                </a:solidFill>
              </a:defRPr>
            </a:pPr>
            <a:r>
              <a:t>📚 Breve história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1950s: Conceptos y test de Turing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1980s: Redes neuronales tempranas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2010s: Auge del deep learning y Big Data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2020s: Modelos de lenguaje y multimodales (ChatGPT, etc)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defRPr b="1" sz="4400">
                <a:solidFill>
                  <a:srgbClr val="667EEA"/>
                </a:solidFill>
              </a:defRPr>
            </a:pPr>
            <a:r>
              <a:t>🔧 Tipos y técnicas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Aprendizaje supervisado, no supervisado, por refuerzo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Redes neuronales profundas, Transformers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NLP (Procesamiento de Lenguaje Natural)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Visión por computador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defRPr b="1" sz="4400">
                <a:solidFill>
                  <a:srgbClr val="667EEA"/>
                </a:solidFill>
              </a:defRPr>
            </a:pPr>
            <a:r>
              <a:t>🌍 Aplicaciones actuales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🏥 Salud: Diagnóstico asistido, imagen médica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🏭 Industria: Mantenimiento predictivo, automatización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💼 Negocios: Recomendaciones, análisis de clientes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📱 Consumidor: Asistentes virtuales, ChatGPT, DALL-E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defRPr b="1" sz="4400">
                <a:solidFill>
                  <a:srgbClr val="667EEA"/>
                </a:solidFill>
              </a:defRPr>
            </a:pPr>
            <a:r>
              <a:t>✅ 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⚡ Eficiencia y productividad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📊 Mejora en toma de decisiones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🚀 Nuevas oportunidades de productos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</a:defRPr>
            </a:pPr>
            <a:r>
              <a:t>🎯 Personalización a escala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defRPr b="1" sz="4400">
                <a:solidFill>
                  <a:srgbClr val="667EEA"/>
                </a:solidFill>
              </a:defRPr>
            </a:pPr>
            <a:r>
              <a:t>⚠️ Riesgos y desafíos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🎭 Sesgo y equidad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🔐 Privacidad y seguridad de datos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💼 Impacto laboral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⚙️ Explicabilidad (caja negra)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📜 Regulaciones (GDPR, IA Act)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defRPr b="1" sz="4400">
                <a:solidFill>
                  <a:srgbClr val="667EEA"/>
                </a:solidFill>
              </a:defRPr>
            </a:pPr>
            <a:r>
              <a:t>💡 Recomendaciones / Buenas prácticas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✔️ Evaluación de impacto y auditorías éticas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🔒 Diseñar con privacy-by-design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📚 Formación continua de equipos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📋 Documentación y versionado de modelos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⚖️ Gobernanza y marcos de ética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defRPr b="1" sz="4400">
                <a:solidFill>
                  <a:srgbClr val="667EEA"/>
                </a:solidFill>
              </a:defRPr>
            </a:pPr>
            <a:r>
              <a:t>🎯 Conclusión y 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numCol="1" wrap="none">
            <a:spAutoFit/>
          </a:bodyPr>
          <a:lstStyle/>
          <a:p>
            <a:pPr>
              <a:spcBef>
                <a:spcPts val="2000"/>
              </a:spcBef>
              <a:defRPr sz="2400">
                <a:solidFill>
                  <a:srgbClr val="333333"/>
                </a:solidFill>
              </a:defRPr>
            </a:pPr>
            <a:r>
              <a:t>🌟 Potencial enorme + Responsabilidad</a:t>
            </a:r>
          </a:p>
          <a:p>
            <a:pPr>
              <a:spcBef>
                <a:spcPts val="2000"/>
              </a:spcBef>
              <a:defRPr sz="2400">
                <a:solidFill>
                  <a:srgbClr val="333333"/>
                </a:solidFill>
              </a:defRPr>
            </a:pPr>
            <a:r>
              <a:t>🚀 Empezar con pilotos pequeños</a:t>
            </a:r>
          </a:p>
          <a:p>
            <a:pPr>
              <a:spcBef>
                <a:spcPts val="2000"/>
              </a:spcBef>
              <a:defRPr sz="2400">
                <a:solidFill>
                  <a:srgbClr val="333333"/>
                </a:solidFill>
              </a:defRPr>
            </a:pPr>
            <a:r>
              <a:t>📖 Recursos: Coursera, edX, arXiv.org, Kaggle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numCol="1"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 numCol="1"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Manager/>
  <Company/>
  <Words>0</Words>
  <Paragraphs>0</Paragraphs>
  <Slides>0</Slides>
  <Notes>0</Notes>
  <TotalTime>1</TotalTime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baseType="lpstr" size="1">
      <vt:lpstr>Office Theme</vt:lpstr>
    </vt:vector>
  </TitlesOfParts>
  <LinksUpToDate>false</LinksUpToDate>
  <SharedDoc>false</SharedDoc>
  <HyperlinkBase/>
  <HyperlinksChanged>false</HyperlinksChanged>
  <Application>Microsoft Macintosh PowerPoint</Application>
  <AppVersion>14.0000</AppVers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dcterms:created xsi:type="dcterms:W3CDTF">2013-01-27T09:14:16Z</dcterms:created>
  <dc:creator/>
  <dc:description>generated using python-pptx</dc:description>
  <cp:keywords/>
  <cp:lastModifiedBy>Steve Canny</cp:lastModifiedBy>
  <dcterms:modified xsi:type="dcterms:W3CDTF">2013-01-27T09:15:58Z</dcterms:modified>
  <cp:revision>1</cp:revision>
  <dc:subject/>
  <dc:title/>
</cp:coreProperties>
</file>